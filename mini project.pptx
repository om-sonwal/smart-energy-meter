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6" r:id="rId6"/>
    <p:sldId id="261" r:id="rId7"/>
    <p:sldId id="260" r:id="rId8"/>
    <p:sldId id="262" r:id="rId9"/>
    <p:sldId id="263" r:id="rId10"/>
    <p:sldId id="267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A2EAF-7D96-0765-BA4D-57A9D005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114" y="2463708"/>
            <a:ext cx="8574622" cy="1144912"/>
          </a:xfrm>
        </p:spPr>
        <p:txBody>
          <a:bodyPr/>
          <a:lstStyle/>
          <a:p>
            <a:r>
              <a:rPr lang="en-US" dirty="0"/>
              <a:t>SMART ENERGY METER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F05C6-305B-C401-BADC-54382C3C4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5095" y="3918607"/>
            <a:ext cx="3745370" cy="1847919"/>
          </a:xfrm>
        </p:spPr>
        <p:txBody>
          <a:bodyPr/>
          <a:lstStyle/>
          <a:p>
            <a:pPr algn="l"/>
            <a:r>
              <a:rPr lang="en-US" dirty="0"/>
              <a:t>Narayan Navande    </a:t>
            </a:r>
            <a:r>
              <a:rPr lang="en-US" dirty="0">
                <a:latin typeface="Bahnschrift Condensed" panose="020B0502040204020203" pitchFamily="34" charset="0"/>
              </a:rPr>
              <a:t>[2022BEC055] </a:t>
            </a:r>
          </a:p>
          <a:p>
            <a:pPr algn="l"/>
            <a:r>
              <a:rPr lang="en-US" dirty="0"/>
              <a:t>Om Sonwal                 </a:t>
            </a:r>
            <a:r>
              <a:rPr lang="en-US" dirty="0">
                <a:latin typeface="Bahnschrift Condensed" panose="020B0502040204020203" pitchFamily="34" charset="0"/>
              </a:rPr>
              <a:t>[2022BEC067] </a:t>
            </a:r>
          </a:p>
          <a:p>
            <a:pPr algn="l"/>
            <a:r>
              <a:rPr lang="en-US" dirty="0"/>
              <a:t>Navinya Deshpande</a:t>
            </a:r>
            <a:r>
              <a:rPr lang="en-US" dirty="0">
                <a:latin typeface="Bahnschrift Condensed" panose="020B0502040204020203" pitchFamily="34" charset="0"/>
              </a:rPr>
              <a:t>[2022BEC077]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B16A6-4A0D-2BA0-7855-FE3E35D9BC8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20439" b="19420"/>
          <a:stretch>
            <a:fillRect/>
          </a:stretch>
        </p:blipFill>
        <p:spPr bwMode="auto">
          <a:xfrm>
            <a:off x="5628455" y="23787"/>
            <a:ext cx="1898650" cy="114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DEEC6-60A7-760D-5C22-B2604D7CB7AD}"/>
              </a:ext>
            </a:extLst>
          </p:cNvPr>
          <p:cNvSpPr txBox="1"/>
          <p:nvPr/>
        </p:nvSpPr>
        <p:spPr>
          <a:xfrm>
            <a:off x="1990520" y="1146810"/>
            <a:ext cx="9660706" cy="158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Shri Guru Gobind Singhji Institute of Engineering &amp; Technology, Vishnupuri , Nanded, Maharashtra, India, 431606.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Electronics and Telecommunication Engineering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C3EB7-6CC3-8261-164E-F67336196A83}"/>
              </a:ext>
            </a:extLst>
          </p:cNvPr>
          <p:cNvSpPr txBox="1"/>
          <p:nvPr/>
        </p:nvSpPr>
        <p:spPr>
          <a:xfrm>
            <a:off x="3082773" y="3918607"/>
            <a:ext cx="2281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50000"/>
                  </a:schemeClr>
                </a:solidFill>
              </a:rPr>
              <a:t>Presented by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0B73C-C8D7-9165-B320-E98D27BDC92F}"/>
              </a:ext>
            </a:extLst>
          </p:cNvPr>
          <p:cNvSpPr txBox="1"/>
          <p:nvPr/>
        </p:nvSpPr>
        <p:spPr>
          <a:xfrm>
            <a:off x="7113126" y="5633884"/>
            <a:ext cx="6111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Under the guidance of</a:t>
            </a:r>
            <a:br>
              <a:rPr lang="en-US" dirty="0"/>
            </a:br>
            <a:r>
              <a:rPr lang="en-US" i="1" dirty="0"/>
              <a:t>Mr. Nitin N. Naganpalle </a:t>
            </a:r>
            <a:br>
              <a:rPr lang="en-US" dirty="0"/>
            </a:br>
            <a:r>
              <a:rPr lang="en-US" dirty="0"/>
              <a:t>Department of Electronics and Telecommunication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83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14ED33-1B2F-153C-5D51-B835A59FA845}"/>
              </a:ext>
            </a:extLst>
          </p:cNvPr>
          <p:cNvSpPr txBox="1"/>
          <p:nvPr/>
        </p:nvSpPr>
        <p:spPr>
          <a:xfrm>
            <a:off x="4070555" y="570272"/>
            <a:ext cx="6528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AC4A9-43F7-1295-A10D-EAB31FC60F82}"/>
              </a:ext>
            </a:extLst>
          </p:cNvPr>
          <p:cNvSpPr txBox="1"/>
          <p:nvPr/>
        </p:nvSpPr>
        <p:spPr>
          <a:xfrm>
            <a:off x="1691149" y="2005781"/>
            <a:ext cx="83672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/>
              <a:t>In today’s world of increasing energy demands and smart automation, monitoring electricity usage in real-time has become essential. This project presents a </a:t>
            </a:r>
            <a:r>
              <a:rPr lang="en-US" sz="2400" b="1" dirty="0"/>
              <a:t>Smart Energy Meter</a:t>
            </a:r>
            <a:r>
              <a:rPr lang="en-US" sz="2400" dirty="0"/>
              <a:t> that provides measurement of voltage and current using the </a:t>
            </a:r>
            <a:r>
              <a:rPr lang="en-US" sz="2400" b="1" dirty="0"/>
              <a:t>ZMPT101B</a:t>
            </a:r>
            <a:r>
              <a:rPr lang="en-US" sz="2400" dirty="0"/>
              <a:t> voltage sensor and </a:t>
            </a:r>
            <a:r>
              <a:rPr lang="en-US" sz="2400" b="1" dirty="0"/>
              <a:t>ACS712</a:t>
            </a:r>
            <a:r>
              <a:rPr lang="en-US" sz="2400" dirty="0"/>
              <a:t> current sensor. The system is built around the </a:t>
            </a:r>
            <a:r>
              <a:rPr lang="en-US" sz="2400" b="1" dirty="0"/>
              <a:t>ESP32</a:t>
            </a:r>
            <a:r>
              <a:rPr lang="en-US" sz="2400" dirty="0"/>
              <a:t> microcontroller, which processes sensor data and displays readings on a </a:t>
            </a:r>
            <a:r>
              <a:rPr lang="en-US" sz="2400" b="1" dirty="0"/>
              <a:t>16×2 LCD</a:t>
            </a:r>
            <a:r>
              <a:rPr lang="en-US" sz="2400" dirty="0"/>
              <a:t> as well as a mobile interface using the </a:t>
            </a:r>
            <a:r>
              <a:rPr lang="en-US" sz="2400" b="1" dirty="0"/>
              <a:t>Blynk app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3993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F8971B-9AD8-88A1-58D1-710EBA97AD36}"/>
              </a:ext>
            </a:extLst>
          </p:cNvPr>
          <p:cNvSpPr txBox="1"/>
          <p:nvPr/>
        </p:nvSpPr>
        <p:spPr>
          <a:xfrm>
            <a:off x="2015613" y="875071"/>
            <a:ext cx="847540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4000" b="1" dirty="0">
                <a:latin typeface="Algerian" panose="04020705040A02060702" pitchFamily="82" charset="0"/>
              </a:rPr>
              <a:t>Objective</a:t>
            </a:r>
          </a:p>
          <a:p>
            <a:pPr>
              <a:buNone/>
            </a:pPr>
            <a:endParaRPr lang="en-US" sz="2400" b="1" dirty="0">
              <a:latin typeface="Algerian" panose="04020705040A02060702" pitchFamily="82" charset="0"/>
            </a:endParaRPr>
          </a:p>
          <a:p>
            <a:pPr>
              <a:buNone/>
            </a:pPr>
            <a:endParaRPr lang="en-US" sz="2400" b="1" dirty="0"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US" sz="2400" b="1" dirty="0"/>
              <a:t>The primary goal of a smart energy meter is to: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Provide energy consumption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Reduce human intervention in meter reading.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Enable remote monitoring and control of energy usage.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Promote energy conservation.</a:t>
            </a:r>
          </a:p>
        </p:txBody>
      </p:sp>
    </p:spTree>
    <p:extLst>
      <p:ext uri="{BB962C8B-B14F-4D97-AF65-F5344CB8AC3E}">
        <p14:creationId xmlns:p14="http://schemas.microsoft.com/office/powerpoint/2010/main" val="3052448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6315-E341-021F-EA29-448BD3BC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Components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05C66-E3F9-1A6B-F55F-99C7B4AB4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9418" y="2658533"/>
            <a:ext cx="4799949" cy="576262"/>
          </a:xfrm>
        </p:spPr>
        <p:txBody>
          <a:bodyPr/>
          <a:lstStyle/>
          <a:p>
            <a:r>
              <a:rPr lang="en-IN" dirty="0"/>
              <a:t>Hardware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9D2E6-3939-3065-70D9-C6315DDF1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95730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ESP32 Wi-Fi &amp; Bluetooth Module</a:t>
            </a:r>
            <a:r>
              <a:rPr lang="en-US" dirty="0">
                <a:latin typeface="Arial Black" panose="020B0A04020102020204" pitchFamily="34" charset="0"/>
              </a:rPr>
              <a:t>: </a:t>
            </a:r>
            <a:r>
              <a:rPr lang="en-US" dirty="0"/>
              <a:t>Acts as the microcontroller and communication module, enabling wireless data transfer and remote monitoring.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LCD 16×2 Display</a:t>
            </a:r>
            <a:r>
              <a:rPr lang="en-US" dirty="0"/>
              <a:t>: Displays real-time data, including voltage, current, and power consumption.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Current Sensor ACS712</a:t>
            </a:r>
            <a:r>
              <a:rPr lang="en-US" dirty="0">
                <a:latin typeface="Arial Black" panose="020B0A04020102020204" pitchFamily="34" charset="0"/>
              </a:rPr>
              <a:t>: </a:t>
            </a:r>
            <a:r>
              <a:rPr lang="en-US" dirty="0"/>
              <a:t>Measures the current flowing through the circuit with high accuracy.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Voltage Sensor ZMPT101B</a:t>
            </a:r>
            <a:r>
              <a:rPr lang="en-US" dirty="0">
                <a:latin typeface="Arial Black" panose="020B0A04020102020204" pitchFamily="34" charset="0"/>
              </a:rPr>
              <a:t>: </a:t>
            </a:r>
            <a:r>
              <a:rPr lang="en-US" dirty="0"/>
              <a:t>Detects and measures the voltage of the connected load.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Load</a:t>
            </a:r>
            <a:r>
              <a:rPr lang="en-US" dirty="0">
                <a:latin typeface="Arial Black" panose="020B0A04020102020204" pitchFamily="34" charset="0"/>
              </a:rPr>
              <a:t>: </a:t>
            </a:r>
            <a:r>
              <a:rPr lang="en-US" dirty="0"/>
              <a:t>Represents the appliance or device consuming power in the system.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Wires</a:t>
            </a:r>
            <a:r>
              <a:rPr lang="en-US" dirty="0">
                <a:latin typeface="Arial Black" panose="020B0A04020102020204" pitchFamily="34" charset="0"/>
              </a:rPr>
              <a:t>: </a:t>
            </a:r>
            <a:r>
              <a:rPr lang="en-US" dirty="0"/>
              <a:t>For electrical connections between components, ensuring seamless operation.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9EF2C-74C4-9F5A-8E8A-3A0989129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Software Components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8F18C-B3C9-2048-62C4-675A048BE14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>
              <a:latin typeface="Arial Black" panose="020B0A040201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Programming Platform: </a:t>
            </a:r>
            <a:r>
              <a:rPr lang="en-US" b="1" dirty="0"/>
              <a:t>Arduino IDE = </a:t>
            </a:r>
            <a:r>
              <a:rPr lang="en-US" dirty="0"/>
              <a:t>To write and upload code to the ESP32 microcontroller.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Arial Black" panose="020B0A04020102020204" pitchFamily="34" charset="0"/>
              </a:rPr>
              <a:t>IoT Platform: Blynk =</a:t>
            </a:r>
            <a:r>
              <a:rPr lang="en-US" dirty="0"/>
              <a:t>To visualize and monitor real-time data like voltage, current, and power consumption remotely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97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FF9D4-0743-2B46-5D78-2AB25E4CB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503" y="177087"/>
            <a:ext cx="2807839" cy="2094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D9B77-7A7D-09EA-E521-6E3BE568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74" y="4604569"/>
            <a:ext cx="2571750" cy="1771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8D922D-AD69-6ECB-7CF1-A94876272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03" y="2543151"/>
            <a:ext cx="4404970" cy="17895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988C3-EDEB-EEB6-3865-BEA94B6202B2}"/>
              </a:ext>
            </a:extLst>
          </p:cNvPr>
          <p:cNvSpPr txBox="1"/>
          <p:nvPr/>
        </p:nvSpPr>
        <p:spPr>
          <a:xfrm>
            <a:off x="1504336" y="658761"/>
            <a:ext cx="59091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Dual-core 32-bit CPU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Wi-Fi + Bluetooth support (ideal for IoT applications)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Multiple GPIOs, ADC (Analog to Digital Converter), PWM, I2C, SPI, UART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Role in Smart Energy Meter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Collects voltage and current sensor readings via analog input (ADC)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Processes data to calculate power and energy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Sends real-time data to Blynk app or web server over Wi-Fi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EEAF5D-EEA9-7E2A-35B0-EB02868D5458}"/>
              </a:ext>
            </a:extLst>
          </p:cNvPr>
          <p:cNvSpPr txBox="1"/>
          <p:nvPr/>
        </p:nvSpPr>
        <p:spPr>
          <a:xfrm>
            <a:off x="1602658" y="3845206"/>
            <a:ext cx="5624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Voltage Sensor - ZMPT101B</a:t>
            </a:r>
          </a:p>
          <a:p>
            <a:r>
              <a:rPr lang="en-US" b="1" dirty="0"/>
              <a:t>Purpose</a:t>
            </a:r>
            <a:r>
              <a:rPr lang="en-US" dirty="0"/>
              <a:t>: Measures AC </a:t>
            </a:r>
            <a:r>
              <a:rPr lang="en-US" b="1" dirty="0"/>
              <a:t>voltage</a:t>
            </a:r>
            <a:r>
              <a:rPr lang="en-US" dirty="0"/>
              <a:t> (typically 230V) safely and outputs a corresponding analog signal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0A7AA-3446-200F-B166-794631CF8D0F}"/>
              </a:ext>
            </a:extLst>
          </p:cNvPr>
          <p:cNvSpPr txBox="1"/>
          <p:nvPr/>
        </p:nvSpPr>
        <p:spPr>
          <a:xfrm>
            <a:off x="1612490" y="4950278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Current Sensor - ACS712</a:t>
            </a:r>
          </a:p>
          <a:p>
            <a:r>
              <a:rPr lang="en-US" b="1" dirty="0"/>
              <a:t>Purpose</a:t>
            </a:r>
            <a:r>
              <a:rPr lang="en-US" dirty="0"/>
              <a:t>: Measures </a:t>
            </a:r>
            <a:r>
              <a:rPr lang="en-US" b="1" dirty="0"/>
              <a:t>current</a:t>
            </a:r>
            <a:r>
              <a:rPr lang="en-US" dirty="0"/>
              <a:t> (AC or DC) flowing through a wire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1E9B50-1061-0C03-A002-1FFC4020B6ED}"/>
              </a:ext>
            </a:extLst>
          </p:cNvPr>
          <p:cNvSpPr txBox="1"/>
          <p:nvPr/>
        </p:nvSpPr>
        <p:spPr>
          <a:xfrm>
            <a:off x="1553497" y="289429"/>
            <a:ext cx="304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ESP32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67886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191F5-7890-25D7-82B2-A2345E74F94C}"/>
              </a:ext>
            </a:extLst>
          </p:cNvPr>
          <p:cNvSpPr txBox="1"/>
          <p:nvPr/>
        </p:nvSpPr>
        <p:spPr>
          <a:xfrm>
            <a:off x="1714499" y="218209"/>
            <a:ext cx="8946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Block diagram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2D2EAB-82DD-4807-317E-4666FFF36718}"/>
              </a:ext>
            </a:extLst>
          </p:cNvPr>
          <p:cNvSpPr/>
          <p:nvPr/>
        </p:nvSpPr>
        <p:spPr>
          <a:xfrm>
            <a:off x="3938152" y="1584613"/>
            <a:ext cx="2036619" cy="9767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Current Sensor ACS712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8C1546-2478-2805-53C8-504EC0E8C776}"/>
              </a:ext>
            </a:extLst>
          </p:cNvPr>
          <p:cNvSpPr/>
          <p:nvPr/>
        </p:nvSpPr>
        <p:spPr>
          <a:xfrm>
            <a:off x="3938153" y="4537570"/>
            <a:ext cx="2036619" cy="9767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Voltage Sensor ZMPT101B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4A8E2D-D623-F5E8-9A6C-ECC6D041FFA3}"/>
              </a:ext>
            </a:extLst>
          </p:cNvPr>
          <p:cNvSpPr/>
          <p:nvPr/>
        </p:nvSpPr>
        <p:spPr>
          <a:xfrm>
            <a:off x="1631370" y="3021156"/>
            <a:ext cx="2265219" cy="109104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LOAD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848D956-7A8F-AE69-0E6E-B6DFDEB66087}"/>
              </a:ext>
            </a:extLst>
          </p:cNvPr>
          <p:cNvCxnSpPr>
            <a:stCxn id="5" idx="2"/>
            <a:endCxn id="4" idx="1"/>
          </p:cNvCxnSpPr>
          <p:nvPr/>
        </p:nvCxnSpPr>
        <p:spPr>
          <a:xfrm rot="16200000" flipH="1">
            <a:off x="2894196" y="3981985"/>
            <a:ext cx="913741" cy="117417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69990F-1F02-5B82-727D-6EE2A54704ED}"/>
              </a:ext>
            </a:extLst>
          </p:cNvPr>
          <p:cNvSpPr/>
          <p:nvPr/>
        </p:nvSpPr>
        <p:spPr>
          <a:xfrm>
            <a:off x="6473536" y="2841914"/>
            <a:ext cx="2400300" cy="135601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ESP32 Wi-Fi &amp; Bluetooth Module</a:t>
            </a:r>
            <a:endParaRPr lang="en-IN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C77BB79B-2A62-CC89-A984-CAB12D515118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5974771" y="2072986"/>
            <a:ext cx="498765" cy="144693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321BF5B-349C-7D2B-065D-E964F9D2F6B2}"/>
              </a:ext>
            </a:extLst>
          </p:cNvPr>
          <p:cNvCxnSpPr>
            <a:stCxn id="4" idx="3"/>
            <a:endCxn id="10" idx="1"/>
          </p:cNvCxnSpPr>
          <p:nvPr/>
        </p:nvCxnSpPr>
        <p:spPr>
          <a:xfrm flipV="1">
            <a:off x="5974772" y="3519921"/>
            <a:ext cx="498764" cy="150602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632C3-1A6F-DA87-ACFB-7533FCACD21E}"/>
              </a:ext>
            </a:extLst>
          </p:cNvPr>
          <p:cNvSpPr/>
          <p:nvPr/>
        </p:nvSpPr>
        <p:spPr>
          <a:xfrm>
            <a:off x="9289473" y="1485900"/>
            <a:ext cx="2389909" cy="117417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LCD 16×2 Display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6D58E8-A4FC-1465-92C4-E4850B9B27F4}"/>
              </a:ext>
            </a:extLst>
          </p:cNvPr>
          <p:cNvSpPr/>
          <p:nvPr/>
        </p:nvSpPr>
        <p:spPr>
          <a:xfrm>
            <a:off x="9289473" y="4051149"/>
            <a:ext cx="2389909" cy="132095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IoT Platform: Blynk</a:t>
            </a:r>
            <a:endParaRPr lang="en-IN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0C81D1C-ECED-7396-4ACB-5EB08298070D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8873836" y="2072987"/>
            <a:ext cx="415637" cy="144693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0553436-94AD-7426-0023-0359745ACC41}"/>
              </a:ext>
            </a:extLst>
          </p:cNvPr>
          <p:cNvCxnSpPr>
            <a:stCxn id="10" idx="3"/>
            <a:endCxn id="17" idx="1"/>
          </p:cNvCxnSpPr>
          <p:nvPr/>
        </p:nvCxnSpPr>
        <p:spPr>
          <a:xfrm>
            <a:off x="8873836" y="3519921"/>
            <a:ext cx="415637" cy="119170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3FB27B4-6515-0A38-62D5-0458646359D8}"/>
              </a:ext>
            </a:extLst>
          </p:cNvPr>
          <p:cNvCxnSpPr>
            <a:stCxn id="5" idx="0"/>
            <a:endCxn id="3" idx="1"/>
          </p:cNvCxnSpPr>
          <p:nvPr/>
        </p:nvCxnSpPr>
        <p:spPr>
          <a:xfrm rot="5400000" flipH="1" flipV="1">
            <a:off x="2876981" y="1959985"/>
            <a:ext cx="948170" cy="117417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83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58DD-E03B-BFA0-BF9B-89DF0197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1339645"/>
          </a:xfrm>
        </p:spPr>
        <p:txBody>
          <a:bodyPr/>
          <a:lstStyle/>
          <a:p>
            <a:r>
              <a:rPr lang="en-IN" b="1" dirty="0">
                <a:latin typeface="Algerian" panose="04020705040A02060702" pitchFamily="82" charset="0"/>
              </a:rPr>
              <a:t>Circuit</a:t>
            </a:r>
            <a:r>
              <a:rPr lang="en-IN" b="1" i="1" dirty="0">
                <a:latin typeface="Algerian" panose="04020705040A02060702" pitchFamily="82" charset="0"/>
              </a:rPr>
              <a:t> </a:t>
            </a:r>
            <a:r>
              <a:rPr lang="en-IN" b="1" dirty="0">
                <a:latin typeface="Algerian" panose="04020705040A02060702" pitchFamily="82" charset="0"/>
              </a:rPr>
              <a:t>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99E5-DADE-0CD4-3828-B5A542B2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39645"/>
            <a:ext cx="10018713" cy="835742"/>
          </a:xfrm>
        </p:spPr>
        <p:txBody>
          <a:bodyPr>
            <a:normAutofit/>
          </a:bodyPr>
          <a:lstStyle/>
          <a:p>
            <a:r>
              <a:rPr lang="en-US" sz="1800" dirty="0"/>
              <a:t>Users can view all parameters and updates remotely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4353A-E779-845F-13CC-708395A32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892" y="1641986"/>
            <a:ext cx="9213547" cy="425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A441C-2903-C998-9B60-FA7180C9BE04}"/>
              </a:ext>
            </a:extLst>
          </p:cNvPr>
          <p:cNvSpPr txBox="1"/>
          <p:nvPr/>
        </p:nvSpPr>
        <p:spPr>
          <a:xfrm>
            <a:off x="1518804" y="17346"/>
            <a:ext cx="9455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lgerian" panose="04020705040A02060702" pitchFamily="82" charset="0"/>
              </a:rPr>
              <a:t>Working Principle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F6C9F-23A4-4412-9222-5F3A1144D896}"/>
              </a:ext>
            </a:extLst>
          </p:cNvPr>
          <p:cNvSpPr txBox="1"/>
          <p:nvPr/>
        </p:nvSpPr>
        <p:spPr>
          <a:xfrm>
            <a:off x="1435677" y="602121"/>
            <a:ext cx="9154392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600" b="1" dirty="0">
                <a:latin typeface="Arial Rounded MT Bold" panose="020F0704030504030204" pitchFamily="34" charset="0"/>
              </a:rPr>
              <a:t>1. AC Supply to 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AC power source (230V, 50Hz)</a:t>
            </a:r>
            <a:r>
              <a:rPr lang="en-US" dirty="0"/>
              <a:t> is applied to an electrical load (e.g., a fan, bulb, etc.).</a:t>
            </a:r>
          </a:p>
          <a:p>
            <a:pPr>
              <a:buNone/>
            </a:pPr>
            <a:r>
              <a:rPr lang="en-IN" sz="1600" b="1" dirty="0">
                <a:latin typeface="Arial Rounded MT Bold" panose="020F0704030504030204" pitchFamily="34" charset="0"/>
              </a:rPr>
              <a:t>2. Sensor Measurements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Voltage Sensor (ZMPT101B):</a:t>
            </a:r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Measures voltage across the load , Output: Analog voltage to ESP32 ,  </a:t>
            </a:r>
            <a:r>
              <a:rPr lang="en-IN" b="1" dirty="0"/>
              <a:t>Unit:</a:t>
            </a:r>
            <a:r>
              <a:rPr lang="en-IN" dirty="0"/>
              <a:t> Volts (V)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Current Sensor (ACS712):</a:t>
            </a:r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Measures current flowing through the load, Output: Analog current signal to ESP32 </a:t>
            </a:r>
            <a:r>
              <a:rPr lang="en-IN" b="1" dirty="0"/>
              <a:t>Unit:</a:t>
            </a:r>
            <a:r>
              <a:rPr lang="en-IN" dirty="0"/>
              <a:t> Amperes (A)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208ADB-FBCC-086F-BF24-5F095D76C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44773"/>
              </p:ext>
            </p:extLst>
          </p:nvPr>
        </p:nvGraphicFramePr>
        <p:xfrm>
          <a:off x="1246909" y="3203094"/>
          <a:ext cx="10868891" cy="32254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42604">
                  <a:extLst>
                    <a:ext uri="{9D8B030D-6E8A-4147-A177-3AD203B41FA5}">
                      <a16:colId xmlns:a16="http://schemas.microsoft.com/office/drawing/2014/main" val="3194038438"/>
                    </a:ext>
                  </a:extLst>
                </a:gridCol>
                <a:gridCol w="1875905">
                  <a:extLst>
                    <a:ext uri="{9D8B030D-6E8A-4147-A177-3AD203B41FA5}">
                      <a16:colId xmlns:a16="http://schemas.microsoft.com/office/drawing/2014/main" val="54782816"/>
                    </a:ext>
                  </a:extLst>
                </a:gridCol>
                <a:gridCol w="3647209">
                  <a:extLst>
                    <a:ext uri="{9D8B030D-6E8A-4147-A177-3AD203B41FA5}">
                      <a16:colId xmlns:a16="http://schemas.microsoft.com/office/drawing/2014/main" val="3938690039"/>
                    </a:ext>
                  </a:extLst>
                </a:gridCol>
                <a:gridCol w="4603173">
                  <a:extLst>
                    <a:ext uri="{9D8B030D-6E8A-4147-A177-3AD203B41FA5}">
                      <a16:colId xmlns:a16="http://schemas.microsoft.com/office/drawing/2014/main" val="2176480465"/>
                    </a:ext>
                  </a:extLst>
                </a:gridCol>
              </a:tblGrid>
              <a:tr h="57841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Calculation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32219"/>
                  </a:ext>
                </a:extLst>
              </a:tr>
              <a:tr h="665802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Calculation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 (W) = Voltage (V) × Current (A)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Calculates instantaneous power consumption.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62034"/>
                  </a:ext>
                </a:extLst>
              </a:tr>
              <a:tr h="578413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Consumption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(kWh) = Power (W) × Time (h)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energy calculated over time.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9485"/>
                  </a:ext>
                </a:extLst>
              </a:tr>
              <a:tr h="578413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 Estimation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 = Energy (kWh) × Rate (per kWh)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Estimates electricity costs based on consumption.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353441"/>
                  </a:ext>
                </a:extLst>
              </a:tr>
              <a:tr h="578413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Display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Displays on LCD and Blynk app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Allows users to monitor costs effectively.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431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32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9D1D-2181-C4FA-788C-84C725A5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192" y="89892"/>
            <a:ext cx="8410491" cy="1239870"/>
          </a:xfrm>
        </p:spPr>
        <p:txBody>
          <a:bodyPr>
            <a:norm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Future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FFD80-9D98-3529-0C99-C88B7DED28B5}"/>
              </a:ext>
            </a:extLst>
          </p:cNvPr>
          <p:cNvSpPr txBox="1"/>
          <p:nvPr/>
        </p:nvSpPr>
        <p:spPr>
          <a:xfrm>
            <a:off x="3319392" y="2140525"/>
            <a:ext cx="9010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96313-1EE4-77CA-0D99-BB33FD3FCDA2}"/>
              </a:ext>
            </a:extLst>
          </p:cNvPr>
          <p:cNvSpPr txBox="1"/>
          <p:nvPr/>
        </p:nvSpPr>
        <p:spPr>
          <a:xfrm>
            <a:off x="6504709" y="2314111"/>
            <a:ext cx="5174673" cy="4177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12DEE-6853-8A29-1BB1-0A64D5541641}"/>
              </a:ext>
            </a:extLst>
          </p:cNvPr>
          <p:cNvSpPr txBox="1"/>
          <p:nvPr/>
        </p:nvSpPr>
        <p:spPr>
          <a:xfrm>
            <a:off x="1809135" y="1758868"/>
            <a:ext cx="98702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Integration with IoT dashboards, remote control via apps like Blynk, and mobile alerts for abnormal energy usage.</a:t>
            </a:r>
          </a:p>
          <a:p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Monitoring of grid and renewable sources with automated daily, weekly, and monthly energy reports.</a:t>
            </a:r>
          </a:p>
          <a:p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AI-based energy prediction, dynamic tariff calculation, and automated overload protection features.</a:t>
            </a:r>
          </a:p>
          <a:p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Voice assistant support (Alexa/Google Home) and cloud-based multi-user access for easy management.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53911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AFA5-97F6-A448-3B6B-E2ED037D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57865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Traditional vs Smart Energy Meter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785929-EB8A-7D37-C25D-C501E31E7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23382"/>
              </p:ext>
            </p:extLst>
          </p:nvPr>
        </p:nvGraphicFramePr>
        <p:xfrm>
          <a:off x="1769806" y="1700981"/>
          <a:ext cx="9861752" cy="447122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276630">
                  <a:extLst>
                    <a:ext uri="{9D8B030D-6E8A-4147-A177-3AD203B41FA5}">
                      <a16:colId xmlns:a16="http://schemas.microsoft.com/office/drawing/2014/main" val="4191393924"/>
                    </a:ext>
                  </a:extLst>
                </a:gridCol>
                <a:gridCol w="3292561">
                  <a:extLst>
                    <a:ext uri="{9D8B030D-6E8A-4147-A177-3AD203B41FA5}">
                      <a16:colId xmlns:a16="http://schemas.microsoft.com/office/drawing/2014/main" val="3889347241"/>
                    </a:ext>
                  </a:extLst>
                </a:gridCol>
                <a:gridCol w="3292561">
                  <a:extLst>
                    <a:ext uri="{9D8B030D-6E8A-4147-A177-3AD203B41FA5}">
                      <a16:colId xmlns:a16="http://schemas.microsoft.com/office/drawing/2014/main" val="259899836"/>
                    </a:ext>
                  </a:extLst>
                </a:gridCol>
              </a:tblGrid>
              <a:tr h="745204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Traditional Energy 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Smart Energy 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473290"/>
                  </a:ext>
                </a:extLst>
              </a:tr>
              <a:tr h="745204">
                <a:tc>
                  <a:txBody>
                    <a:bodyPr/>
                    <a:lstStyle/>
                    <a:p>
                      <a:r>
                        <a:rPr lang="en-IN" b="1" dirty="0"/>
                        <a:t>Reading Method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Manual (requires personnel)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Automatic (real-time digital reading)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5152008"/>
                  </a:ext>
                </a:extLst>
              </a:tr>
              <a:tr h="745204">
                <a:tc>
                  <a:txBody>
                    <a:bodyPr/>
                    <a:lstStyle/>
                    <a:p>
                      <a:r>
                        <a:rPr lang="en-IN" b="1" dirty="0"/>
                        <a:t>Data Monitoring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live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monitoring via mobile/web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002441"/>
                  </a:ext>
                </a:extLst>
              </a:tr>
              <a:tr h="745204">
                <a:tc>
                  <a:txBody>
                    <a:bodyPr/>
                    <a:lstStyle/>
                    <a:p>
                      <a:r>
                        <a:rPr lang="en-IN" b="1" dirty="0"/>
                        <a:t>Energy Usage Insights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provided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Detailed usage analytics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456536"/>
                  </a:ext>
                </a:extLst>
              </a:tr>
              <a:tr h="745204">
                <a:tc>
                  <a:txBody>
                    <a:bodyPr/>
                    <a:lstStyle/>
                    <a:p>
                      <a:r>
                        <a:rPr lang="en-IN" b="1" dirty="0"/>
                        <a:t>Maintenance Cost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Higher due to manual intervention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due to remote diagnostics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209492"/>
                  </a:ext>
                </a:extLst>
              </a:tr>
              <a:tr h="745204">
                <a:tc>
                  <a:txBody>
                    <a:bodyPr/>
                    <a:lstStyle/>
                    <a:p>
                      <a:r>
                        <a:rPr lang="en-IN" b="1" dirty="0"/>
                        <a:t>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IoT-enabled (Wi-Fi, Bluetooth,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694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83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52AAB2-0ED1-758F-1A0C-2520F8D8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009" y="1602657"/>
            <a:ext cx="6559778" cy="4286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6FB14-F091-99EB-A8A7-DD64D9C8D37D}"/>
              </a:ext>
            </a:extLst>
          </p:cNvPr>
          <p:cNvSpPr txBox="1"/>
          <p:nvPr/>
        </p:nvSpPr>
        <p:spPr>
          <a:xfrm>
            <a:off x="3893575" y="245807"/>
            <a:ext cx="5861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lgerian" panose="04020705040A02060702" pitchFamily="82" charset="0"/>
              </a:rPr>
              <a:t>Output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F56730-143D-51FA-7A5C-617959583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564" y="1602657"/>
            <a:ext cx="3470649" cy="48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9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70E6-CBA4-32A4-7374-3FB14CB7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3731925" cy="872836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00923-A7A1-EB40-AB8B-DC885877146A}"/>
              </a:ext>
            </a:extLst>
          </p:cNvPr>
          <p:cNvSpPr txBox="1"/>
          <p:nvPr/>
        </p:nvSpPr>
        <p:spPr>
          <a:xfrm>
            <a:off x="1710813" y="2123768"/>
            <a:ext cx="77871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dirty="0"/>
              <a:t>The smart energy meter improves energy accuracy and accessibility.</a:t>
            </a:r>
          </a:p>
          <a:p>
            <a:pPr>
              <a:buNone/>
            </a:pPr>
            <a:r>
              <a:rPr lang="en-US" sz="2800" dirty="0"/>
              <a:t>It supports sustainability by enabling efficient resource use and conservation.</a:t>
            </a:r>
          </a:p>
          <a:p>
            <a:r>
              <a:rPr lang="en-US" sz="2800" dirty="0"/>
              <a:t>This project highlights integration of IoT with power monitoring technology.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28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0261-F017-5E16-2134-0F4230DE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850082"/>
          </a:xfrm>
        </p:spPr>
        <p:txBody>
          <a:bodyPr>
            <a:normAutofit/>
          </a:bodyPr>
          <a:lstStyle/>
          <a:p>
            <a:r>
              <a:rPr lang="en-IN" sz="5400" b="1" i="1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97294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510</TotalTime>
  <Words>799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Algerian</vt:lpstr>
      <vt:lpstr>Arial</vt:lpstr>
      <vt:lpstr>Arial Black</vt:lpstr>
      <vt:lpstr>Arial Rounded MT Bold</vt:lpstr>
      <vt:lpstr>Bahnschrift Condensed</vt:lpstr>
      <vt:lpstr>Calibri</vt:lpstr>
      <vt:lpstr>Corbel</vt:lpstr>
      <vt:lpstr>Times New Roman</vt:lpstr>
      <vt:lpstr>Parallax</vt:lpstr>
      <vt:lpstr>SMART ENERGY METER</vt:lpstr>
      <vt:lpstr>PowerPoint Presentation</vt:lpstr>
      <vt:lpstr>PowerPoint Presentation</vt:lpstr>
      <vt:lpstr>Components</vt:lpstr>
      <vt:lpstr>PowerPoint Presentation</vt:lpstr>
      <vt:lpstr>PowerPoint Presentation</vt:lpstr>
      <vt:lpstr>Circuit Diagram</vt:lpstr>
      <vt:lpstr>PowerPoint Presentation</vt:lpstr>
      <vt:lpstr>Future Scope</vt:lpstr>
      <vt:lpstr>Traditional vs Smart Energy Meter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 Narayan</dc:creator>
  <cp:lastModifiedBy>Navinya Deshpande</cp:lastModifiedBy>
  <cp:revision>5</cp:revision>
  <dcterms:created xsi:type="dcterms:W3CDTF">2025-04-16T10:04:40Z</dcterms:created>
  <dcterms:modified xsi:type="dcterms:W3CDTF">2025-04-22T10:24:39Z</dcterms:modified>
</cp:coreProperties>
</file>